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embeddedFontLst>
    <p:embeddedFont>
      <p:font typeface="Roboto Slab"/>
      <p:regular r:id="rId49"/>
      <p:bold r:id="rId50"/>
    </p:embeddedFont>
    <p:embeddedFont>
      <p:font typeface="PT Sans Narrow"/>
      <p:regular r:id="rId51"/>
      <p:bold r:id="rId52"/>
    </p:embeddedFont>
    <p:embeddedFont>
      <p:font typeface="Open Sans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font" Target="fonts/RobotoSlab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TSansNarrow-regular.fntdata"/><Relationship Id="rId50" Type="http://schemas.openxmlformats.org/officeDocument/2006/relationships/font" Target="fonts/RobotoSlab-bold.fntdata"/><Relationship Id="rId53" Type="http://schemas.openxmlformats.org/officeDocument/2006/relationships/font" Target="fonts/OpenSans-regular.fntdata"/><Relationship Id="rId52" Type="http://schemas.openxmlformats.org/officeDocument/2006/relationships/font" Target="fonts/PTSansNarrow-bold.fntdata"/><Relationship Id="rId11" Type="http://schemas.openxmlformats.org/officeDocument/2006/relationships/slide" Target="slides/slide6.xml"/><Relationship Id="rId55" Type="http://schemas.openxmlformats.org/officeDocument/2006/relationships/font" Target="fonts/OpenSans-italic.fntdata"/><Relationship Id="rId10" Type="http://schemas.openxmlformats.org/officeDocument/2006/relationships/slide" Target="slides/slide5.xml"/><Relationship Id="rId54" Type="http://schemas.openxmlformats.org/officeDocument/2006/relationships/font" Target="fonts/Open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schemas.openxmlformats.org/officeDocument/2006/relationships/font" Target="fonts/Open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c6f75fc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c6f75fc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2b655740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2b655740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2b655740a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2b655740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66ce9ed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66ce9ed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66ce9ed5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66ce9ed5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66ce9ed5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66ce9ed5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66ce9ed5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66ce9ed5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66ce9ed5e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66ce9ed5e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66ce9ed5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66ce9ed5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66ce9ed5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66ce9ed5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66ce9ed5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66ce9ed5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66ce9ed5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66ce9ed5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66ce9ed5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66ce9ed5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66ce9ed5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66ce9ed5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66ce9ed5e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66ce9ed5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66ce9ed5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66ce9ed5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66ce9ed5e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c66ce9ed5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66ce9ed5e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66ce9ed5e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66ce9ed5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c66ce9ed5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66ce9ed5e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66ce9ed5e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66ce9ed5e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c66ce9ed5e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66ce9ed5e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c66ce9ed5e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c66ce9ed5e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c66ce9ed5e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c66ce9ed5e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c66ce9ed5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c66ce9ed5e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c66ce9ed5e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66ce9ed5e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c66ce9ed5e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66ce9ed5e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c66ce9ed5e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66ce9ed5e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c66ce9ed5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c66ce9ed5e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c66ce9ed5e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c66ce9ed5e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c66ce9ed5e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c66ce9ed5e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c66ce9ed5e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66ce9ed5e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c66ce9ed5e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c66ce9ed5e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c66ce9ed5e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c66ce9ed5e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c66ce9ed5e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c66ce9ed5e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c66ce9ed5e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c66ce9ed5e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c66ce9ed5e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c66ce9ed5e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c66ce9ed5e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c66ce9ed5e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c66ce9ed5e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66ce9ed5e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c66ce9ed5e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c66ce9ed5e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c66ce9ed5e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c66ce9ed5e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c66ce9ed5e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c66ce9ed5e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c66ce9ed5e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c66ce9ed5e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c66ce9ed5e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Foundations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Value boot camp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11700" y="1266325"/>
            <a:ext cx="8112300" cy="36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What Can JavaScript Do?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JavaScript is the programming language of the web.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It can calculate, manipulate and validate data.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It can update and change both HTML and CSS.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To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266325"/>
            <a:ext cx="8376900" cy="14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b="1"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&lt;script&gt;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 Tag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In HTML, JavaScript code is inserted between 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&lt;script&gt;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and 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&lt;/script&gt;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tags.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875" y="2735726"/>
            <a:ext cx="7379650" cy="101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To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266325"/>
            <a:ext cx="8376900" cy="21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JavaScript in </a:t>
            </a:r>
            <a:r>
              <a:rPr b="1"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&lt;head&gt;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 or </a:t>
            </a:r>
            <a:r>
              <a:rPr b="1"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&lt;body</a:t>
            </a:r>
            <a:r>
              <a:rPr b="1"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&gt;</a:t>
            </a:r>
            <a:endParaRPr b="1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You can place any number of scripts in an HTML document.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Scripts can be placed in the 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&lt;body&gt;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, or in the 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&lt;head&gt;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section of an HTML page, or in both.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To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266325"/>
            <a:ext cx="4895100" cy="10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External JavaScript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Scripts can also be placed in external files: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600" y="2378575"/>
            <a:ext cx="4020450" cy="12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5550300" y="1266325"/>
            <a:ext cx="3282000" cy="31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Advantages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It separates HTML and code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It makes HTML and JavaScript easier to read and maintain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Cached JavaScript files can speed up page loads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To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266325"/>
            <a:ext cx="4895100" cy="10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External JavaScript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Scripts can also be placed in external files: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600" y="2378575"/>
            <a:ext cx="4020450" cy="12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5550300" y="1266325"/>
            <a:ext cx="3282000" cy="31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Advantages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It separates HTML and code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It makes HTML and JavaScript easier to read and maintain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Cached JavaScript files can speed up page loads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Syntax</a:t>
            </a:r>
            <a:endParaRPr sz="4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Syntax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266325"/>
            <a:ext cx="8356500" cy="11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Syntax are the rules how programs must be constructed.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Each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language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has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its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own syntax.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275" y="2460900"/>
            <a:ext cx="3490275" cy="21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Keywords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266325"/>
            <a:ext cx="8356500" cy="11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JavaScript keywords are used to defines actions to be performed.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let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and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const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keywords create variables: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700" y="2439325"/>
            <a:ext cx="3177449" cy="164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Variables</a:t>
            </a:r>
            <a:endParaRPr/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266325"/>
            <a:ext cx="8356500" cy="11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Variables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are containers for storing data values.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Variables must be identified with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unique names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075" y="2406250"/>
            <a:ext cx="4152925" cy="200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Identifiers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11700" y="1266325"/>
            <a:ext cx="8356500" cy="3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An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identifier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is the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name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you give to a variable.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Rules for identifiers: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Must start with a letter, _, or $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Can contain digits after the first character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Cannot be a reserved keyword (let, const, if, etc.)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Are case-sensitive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Operators</a:t>
            </a:r>
            <a:endParaRPr/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311700" y="1266325"/>
            <a:ext cx="8356500" cy="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JavaScript assignment operators (=) assign values to variables: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075" y="1834650"/>
            <a:ext cx="2792850" cy="117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311700" y="3184250"/>
            <a:ext cx="8356500" cy="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JavaScript uses arithmetic operators ( + - * / ) to compute values.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Expressions</a:t>
            </a:r>
            <a:endParaRPr/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311700" y="1266325"/>
            <a:ext cx="8356500" cy="9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An expression is a combination of values, variables, and operators, which computes to a value.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575" y="2130200"/>
            <a:ext cx="5495376" cy="227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casing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311700" y="1266325"/>
            <a:ext cx="8356500" cy="30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Historically, programmers have used different ways of joining multiple words into one variable name: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Underscore: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first_name, last_name, master_card, inter_city.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Pascal Case: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FirstName, MasterCard, InterCity.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Camel Case: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firstName, masterCard, interCity.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JavaScript programmers tend to use camel case.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Programs and Statements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311700" y="1266325"/>
            <a:ext cx="5074500" cy="35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Statements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are composed of Values, Operators, Expressions, Keywords, and Comments.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computer program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is a list of "instructions" (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statements)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to be "executed" by a computer.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stat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e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ments are executed, one by one, in the same order as they are written.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167" name="Google Shape;16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8427" y="1438900"/>
            <a:ext cx="3133873" cy="113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Code Blocks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311700" y="1266325"/>
            <a:ext cx="8592300" cy="15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Statements can be grouped together in code blocks, inside curly brackets {...}.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purpose is to define statements to be executed together.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For example in JavaScript functions.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174" name="Google Shape;17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725" y="2882325"/>
            <a:ext cx="6851151" cy="121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Variables</a:t>
            </a:r>
            <a:endParaRPr sz="4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Variables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1"/>
          <p:cNvSpPr txBox="1"/>
          <p:nvPr>
            <p:ph idx="1" type="body"/>
          </p:nvPr>
        </p:nvSpPr>
        <p:spPr>
          <a:xfrm>
            <a:off x="311700" y="1266325"/>
            <a:ext cx="5372100" cy="23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Variables = Data Containers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JavaScript variables are containers for data.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JavaScript variables can be declared in 2 ways: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Using let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Using const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186" name="Google Shape;18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7725" y="1357388"/>
            <a:ext cx="2268050" cy="21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Declaring a Variable Using </a:t>
            </a:r>
            <a:r>
              <a:rPr lang="en">
                <a:solidFill>
                  <a:schemeClr val="accent5"/>
                </a:solidFill>
              </a:rPr>
              <a:t>let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2"/>
          <p:cNvSpPr txBox="1"/>
          <p:nvPr>
            <p:ph idx="1" type="body"/>
          </p:nvPr>
        </p:nvSpPr>
        <p:spPr>
          <a:xfrm>
            <a:off x="311700" y="1266325"/>
            <a:ext cx="5546400" cy="37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After declaration, variable has no value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(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undefined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). To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assign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 value to the variable, use the equal sign.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Most often we will assign a value to the variable when we declare it.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Variables with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let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: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Have Block Scope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Must be Declared before use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Cannot be Redeclared in the same scope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193" name="Google Shape;19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0300" y="1104825"/>
            <a:ext cx="2478556" cy="3686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Declaring a Variable Using </a:t>
            </a:r>
            <a:r>
              <a:rPr lang="en">
                <a:solidFill>
                  <a:schemeClr val="accent5"/>
                </a:solidFill>
              </a:rPr>
              <a:t>const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3"/>
          <p:cNvSpPr txBox="1"/>
          <p:nvPr>
            <p:ph idx="1" type="body"/>
          </p:nvPr>
        </p:nvSpPr>
        <p:spPr>
          <a:xfrm>
            <a:off x="311700" y="1266325"/>
            <a:ext cx="5546400" cy="37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Always use const if the value should not be changed.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Variables with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const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: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Cannot be Redeclared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Cannot be Reassigned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Have Block Scope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00" name="Google Shape;20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7269" y="2442775"/>
            <a:ext cx="4462850" cy="9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Data Types</a:t>
            </a:r>
            <a:endParaRPr/>
          </a:p>
        </p:txBody>
      </p:sp>
      <p:pic>
        <p:nvPicPr>
          <p:cNvPr id="206" name="Google Shape;20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1999" y="1001800"/>
            <a:ext cx="2911336" cy="368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275" y="1335600"/>
            <a:ext cx="4536400" cy="3018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 txBox="1"/>
          <p:nvPr>
            <p:ph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Operators</a:t>
            </a:r>
            <a:endParaRPr sz="4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Operators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6"/>
          <p:cNvSpPr txBox="1"/>
          <p:nvPr>
            <p:ph idx="1" type="body"/>
          </p:nvPr>
        </p:nvSpPr>
        <p:spPr>
          <a:xfrm>
            <a:off x="311700" y="1266325"/>
            <a:ext cx="8192400" cy="32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Operators are for Mathematical and Logical Computations.  Types of operators: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Assignment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Arithmetic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Comparison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Logical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Operators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7"/>
          <p:cNvSpPr txBox="1"/>
          <p:nvPr>
            <p:ph idx="1" type="body"/>
          </p:nvPr>
        </p:nvSpPr>
        <p:spPr>
          <a:xfrm>
            <a:off x="311700" y="1266325"/>
            <a:ext cx="8192400" cy="32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Operators are for Mathematical and Logical Computations. 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Types of operators: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Assignment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Arithmetic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Comparison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Logical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Arithmetic Operators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8"/>
          <p:cNvSpPr txBox="1"/>
          <p:nvPr>
            <p:ph idx="1" type="body"/>
          </p:nvPr>
        </p:nvSpPr>
        <p:spPr>
          <a:xfrm>
            <a:off x="311700" y="1266325"/>
            <a:ext cx="8192400" cy="6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Arithmetic operators perform arithmetic on numbers.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31" name="Google Shape;23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700" y="1853100"/>
            <a:ext cx="4127300" cy="25945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Assignment Operators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9"/>
          <p:cNvSpPr txBox="1"/>
          <p:nvPr>
            <p:ph idx="1" type="body"/>
          </p:nvPr>
        </p:nvSpPr>
        <p:spPr>
          <a:xfrm>
            <a:off x="311700" y="1266325"/>
            <a:ext cx="3448800" cy="31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Assignment operators assign values to variables.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Roboto Slab"/>
                <a:ea typeface="Roboto Slab"/>
                <a:cs typeface="Roboto Slab"/>
                <a:sym typeface="Roboto Slab"/>
              </a:rPr>
              <a:t>Given that </a:t>
            </a:r>
            <a:r>
              <a:rPr lang="en" sz="1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x = 10</a:t>
            </a:r>
            <a:r>
              <a:rPr lang="en" sz="1400">
                <a:latin typeface="Roboto Slab"/>
                <a:ea typeface="Roboto Slab"/>
                <a:cs typeface="Roboto Slab"/>
                <a:sym typeface="Roboto Slab"/>
              </a:rPr>
              <a:t> and </a:t>
            </a:r>
            <a:r>
              <a:rPr lang="en" sz="1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y = 5,</a:t>
            </a:r>
            <a:r>
              <a:rPr lang="en" sz="1400">
                <a:latin typeface="Roboto Slab"/>
                <a:ea typeface="Roboto Slab"/>
                <a:cs typeface="Roboto Slab"/>
                <a:sym typeface="Roboto Slab"/>
              </a:rPr>
              <a:t> the table below explains the assignment operators:</a:t>
            </a:r>
            <a:endParaRPr sz="1400"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38" name="Google Shape;23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9250" y="1423750"/>
            <a:ext cx="4803050" cy="283338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</a:t>
            </a:r>
            <a:r>
              <a:rPr lang="en"/>
              <a:t>Comparison </a:t>
            </a:r>
            <a:r>
              <a:rPr lang="en"/>
              <a:t>Operators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0"/>
          <p:cNvSpPr txBox="1"/>
          <p:nvPr>
            <p:ph idx="1" type="body"/>
          </p:nvPr>
        </p:nvSpPr>
        <p:spPr>
          <a:xfrm>
            <a:off x="311700" y="1266325"/>
            <a:ext cx="3448800" cy="31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Comparison operators are used to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compare two values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Comparison operators always return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true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or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false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Roboto Slab"/>
                <a:ea typeface="Roboto Slab"/>
                <a:cs typeface="Roboto Slab"/>
                <a:sym typeface="Roboto Slab"/>
              </a:rPr>
              <a:t>Given that </a:t>
            </a:r>
            <a:r>
              <a:rPr lang="en" sz="1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x = 5</a:t>
            </a:r>
            <a:r>
              <a:rPr lang="en" sz="1400">
                <a:latin typeface="Roboto Slab"/>
                <a:ea typeface="Roboto Slab"/>
                <a:cs typeface="Roboto Slab"/>
                <a:sym typeface="Roboto Slab"/>
              </a:rPr>
              <a:t>, the table below explains the comparison operators:</a:t>
            </a:r>
            <a:endParaRPr sz="14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45" name="Google Shape;24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2900" y="1304825"/>
            <a:ext cx="5078700" cy="296860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/>
          <p:nvPr>
            <p:ph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Conditional Statements</a:t>
            </a:r>
            <a:endParaRPr sz="4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 Statements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42"/>
          <p:cNvSpPr txBox="1"/>
          <p:nvPr>
            <p:ph idx="1" type="body"/>
          </p:nvPr>
        </p:nvSpPr>
        <p:spPr>
          <a:xfrm>
            <a:off x="311700" y="1266325"/>
            <a:ext cx="3977100" cy="23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Conditional Statements allow us to perform different actions for different conditions.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Conditional statements run different code depending on true or false conditions.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57" name="Google Shape;257;p42"/>
          <p:cNvSpPr txBox="1"/>
          <p:nvPr>
            <p:ph idx="1" type="body"/>
          </p:nvPr>
        </p:nvSpPr>
        <p:spPr>
          <a:xfrm>
            <a:off x="4675750" y="1266325"/>
            <a:ext cx="3977100" cy="21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Conditional statements include: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if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if...else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if...else if...else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switch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58" name="Google Shape;25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6812" y="3496897"/>
            <a:ext cx="5350373" cy="138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switch Statement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43"/>
          <p:cNvSpPr txBox="1"/>
          <p:nvPr>
            <p:ph idx="1" type="body"/>
          </p:nvPr>
        </p:nvSpPr>
        <p:spPr>
          <a:xfrm>
            <a:off x="311700" y="1266325"/>
            <a:ext cx="3977100" cy="23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Use switch to specify many alternative code blocks to be executed.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65" name="Google Shape;26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5800" y="1423900"/>
            <a:ext cx="2486300" cy="253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Logical Operators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44"/>
          <p:cNvSpPr txBox="1"/>
          <p:nvPr>
            <p:ph idx="1" type="body"/>
          </p:nvPr>
        </p:nvSpPr>
        <p:spPr>
          <a:xfrm>
            <a:off x="311700" y="1266325"/>
            <a:ext cx="7474500" cy="12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Logical operators are used to combine boolean expressions.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Roboto Slab"/>
                <a:ea typeface="Roboto Slab"/>
                <a:cs typeface="Roboto Slab"/>
                <a:sym typeface="Roboto Slab"/>
              </a:rPr>
              <a:t>Given that </a:t>
            </a:r>
            <a:r>
              <a:rPr lang="en" sz="1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x = 6</a:t>
            </a:r>
            <a:r>
              <a:rPr lang="en" sz="1400">
                <a:latin typeface="Roboto Slab"/>
                <a:ea typeface="Roboto Slab"/>
                <a:cs typeface="Roboto Slab"/>
                <a:sym typeface="Roboto Slab"/>
              </a:rPr>
              <a:t> and </a:t>
            </a:r>
            <a:r>
              <a:rPr lang="en" sz="1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y = 3</a:t>
            </a:r>
            <a:r>
              <a:rPr lang="en" sz="1400">
                <a:latin typeface="Roboto Slab"/>
                <a:ea typeface="Roboto Slab"/>
                <a:cs typeface="Roboto Slab"/>
                <a:sym typeface="Roboto Slab"/>
              </a:rPr>
              <a:t>, the table below explains the logical operators:</a:t>
            </a:r>
            <a:endParaRPr sz="1400"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72" name="Google Shape;27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950" y="2480425"/>
            <a:ext cx="3943525" cy="14893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"/>
          <p:cNvSpPr txBox="1"/>
          <p:nvPr>
            <p:ph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Loops</a:t>
            </a:r>
            <a:endParaRPr sz="4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Loops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6"/>
          <p:cNvSpPr txBox="1"/>
          <p:nvPr>
            <p:ph idx="1" type="body"/>
          </p:nvPr>
        </p:nvSpPr>
        <p:spPr>
          <a:xfrm>
            <a:off x="311700" y="1266325"/>
            <a:ext cx="2910600" cy="32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Loops can execute a block of code a number of times.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If you want to run the same code over and over again, each time with a different value.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84" name="Google Shape;28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3925" y="1266325"/>
            <a:ext cx="3519250" cy="2977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For Loop</a:t>
            </a:r>
            <a:endParaRPr/>
          </a:p>
        </p:txBody>
      </p:sp>
      <p:sp>
        <p:nvSpPr>
          <p:cNvPr id="290" name="Google Shape;290;p47"/>
          <p:cNvSpPr txBox="1"/>
          <p:nvPr>
            <p:ph idx="1" type="body"/>
          </p:nvPr>
        </p:nvSpPr>
        <p:spPr>
          <a:xfrm>
            <a:off x="311700" y="1266325"/>
            <a:ext cx="4418100" cy="32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for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statement creates a loop with 3 optional expressions: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exp1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is executed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one time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before the execution of the code block.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exp2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defines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the condition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for executing the code block.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exp3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is executed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every time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the code block has been executed.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91" name="Google Shape;29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0650" y="1397125"/>
            <a:ext cx="3864575" cy="189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While Loop</a:t>
            </a:r>
            <a:endParaRPr/>
          </a:p>
        </p:txBody>
      </p:sp>
      <p:sp>
        <p:nvSpPr>
          <p:cNvPr id="297" name="Google Shape;297;p48"/>
          <p:cNvSpPr txBox="1"/>
          <p:nvPr>
            <p:ph idx="1" type="body"/>
          </p:nvPr>
        </p:nvSpPr>
        <p:spPr>
          <a:xfrm>
            <a:off x="311700" y="1266325"/>
            <a:ext cx="4028400" cy="32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while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loop loops through a block of code as long as a specified condition is true.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98" name="Google Shape;29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9650" y="1392025"/>
            <a:ext cx="3350124" cy="181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Do While Loop</a:t>
            </a:r>
            <a:endParaRPr/>
          </a:p>
        </p:txBody>
      </p:sp>
      <p:sp>
        <p:nvSpPr>
          <p:cNvPr id="304" name="Google Shape;304;p49"/>
          <p:cNvSpPr txBox="1"/>
          <p:nvPr>
            <p:ph idx="1" type="body"/>
          </p:nvPr>
        </p:nvSpPr>
        <p:spPr>
          <a:xfrm>
            <a:off x="311700" y="1266325"/>
            <a:ext cx="4028400" cy="32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do while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loop is a variant of the while loop.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do while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loop will execute the code block once, before checking if the condition is true.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05" name="Google Shape;30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900" y="1366850"/>
            <a:ext cx="3375750" cy="267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Break Statement</a:t>
            </a:r>
            <a:endParaRPr/>
          </a:p>
        </p:txBody>
      </p:sp>
      <p:sp>
        <p:nvSpPr>
          <p:cNvPr id="311" name="Google Shape;311;p50"/>
          <p:cNvSpPr txBox="1"/>
          <p:nvPr>
            <p:ph idx="1" type="body"/>
          </p:nvPr>
        </p:nvSpPr>
        <p:spPr>
          <a:xfrm>
            <a:off x="311700" y="1266325"/>
            <a:ext cx="3612900" cy="32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break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statement "jumps out" of loops and switches.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break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statement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terminates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execution of a loop or a switch statement.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12" name="Google Shape;31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456475"/>
            <a:ext cx="3789674" cy="143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Continue </a:t>
            </a:r>
            <a:r>
              <a:rPr lang="en"/>
              <a:t>Statement</a:t>
            </a:r>
            <a:endParaRPr/>
          </a:p>
        </p:txBody>
      </p:sp>
      <p:sp>
        <p:nvSpPr>
          <p:cNvPr id="318" name="Google Shape;318;p51"/>
          <p:cNvSpPr txBox="1"/>
          <p:nvPr>
            <p:ph idx="1" type="body"/>
          </p:nvPr>
        </p:nvSpPr>
        <p:spPr>
          <a:xfrm>
            <a:off x="311700" y="1266325"/>
            <a:ext cx="3612900" cy="32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continue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statement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skips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current iteration in a loop.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remaining code in the iteration is skipped and processing moves to the next iteration.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19" name="Google Shape;31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8025" y="1376625"/>
            <a:ext cx="4395100" cy="173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2"/>
          <p:cNvSpPr txBox="1"/>
          <p:nvPr>
            <p:ph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Functions</a:t>
            </a:r>
            <a:endParaRPr sz="4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Functions</a:t>
            </a:r>
            <a:endParaRPr/>
          </a:p>
        </p:txBody>
      </p:sp>
      <p:sp>
        <p:nvSpPr>
          <p:cNvPr id="330" name="Google Shape;330;p53"/>
          <p:cNvSpPr txBox="1"/>
          <p:nvPr>
            <p:ph idx="1" type="body"/>
          </p:nvPr>
        </p:nvSpPr>
        <p:spPr>
          <a:xfrm>
            <a:off x="311700" y="1266325"/>
            <a:ext cx="3612900" cy="32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Functions are reusable code blocks designed to perform a particular task.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Functions are executed when they are called or invoked.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Functions are fundamental in all programming.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31" name="Google Shape;33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4450" y="1233050"/>
            <a:ext cx="4098924" cy="302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Input and Output</a:t>
            </a:r>
            <a:endParaRPr/>
          </a:p>
        </p:txBody>
      </p:sp>
      <p:sp>
        <p:nvSpPr>
          <p:cNvPr id="337" name="Google Shape;337;p54"/>
          <p:cNvSpPr txBox="1"/>
          <p:nvPr>
            <p:ph idx="1" type="body"/>
          </p:nvPr>
        </p:nvSpPr>
        <p:spPr>
          <a:xfrm>
            <a:off x="311700" y="1266325"/>
            <a:ext cx="3612900" cy="32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most useful functions work like this: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Parameter Input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- some parameters go into the function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Function Code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- some work is done inside the function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Return Output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- some value is returned from the function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38" name="Google Shape;33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176525"/>
            <a:ext cx="3381000" cy="142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Invocation</a:t>
            </a:r>
            <a:endParaRPr/>
          </a:p>
        </p:txBody>
      </p:sp>
      <p:sp>
        <p:nvSpPr>
          <p:cNvPr id="344" name="Google Shape;344;p55"/>
          <p:cNvSpPr txBox="1"/>
          <p:nvPr>
            <p:ph idx="1" type="body"/>
          </p:nvPr>
        </p:nvSpPr>
        <p:spPr>
          <a:xfrm>
            <a:off x="311700" y="1266325"/>
            <a:ext cx="3612900" cy="32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code inside a function is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NOT executed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when the function is defined.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code inside a function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will execute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when "something" invokes the function: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45" name="Google Shape;34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9050" y="1635436"/>
            <a:ext cx="3765600" cy="187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