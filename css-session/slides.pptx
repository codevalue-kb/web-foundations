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5143500" cx="9144000"/>
  <p:notesSz cx="6858000" cy="9144000"/>
  <p:embeddedFontLst>
    <p:embeddedFont>
      <p:font typeface="Roboto Slab"/>
      <p:regular r:id="rId56"/>
      <p:bold r:id="rId57"/>
    </p:embeddedFont>
    <p:embeddedFont>
      <p:font typeface="PT Sans Narrow"/>
      <p:regular r:id="rId58"/>
      <p:bold r:id="rId59"/>
    </p:embeddedFont>
    <p:embeddedFont>
      <p:font typeface="Open Sans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OpenSans-italic.fntdata"/><Relationship Id="rId61" Type="http://schemas.openxmlformats.org/officeDocument/2006/relationships/font" Target="fonts/OpenSans-bold.fntdata"/><Relationship Id="rId20" Type="http://schemas.openxmlformats.org/officeDocument/2006/relationships/slide" Target="slides/slide15.xml"/><Relationship Id="rId63" Type="http://schemas.openxmlformats.org/officeDocument/2006/relationships/font" Target="fonts/Open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OpenSans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RobotoSlab-bold.fntdata"/><Relationship Id="rId12" Type="http://schemas.openxmlformats.org/officeDocument/2006/relationships/slide" Target="slides/slide7.xml"/><Relationship Id="rId56" Type="http://schemas.openxmlformats.org/officeDocument/2006/relationships/font" Target="fonts/RobotoSlab-regular.fntdata"/><Relationship Id="rId15" Type="http://schemas.openxmlformats.org/officeDocument/2006/relationships/slide" Target="slides/slide10.xml"/><Relationship Id="rId59" Type="http://schemas.openxmlformats.org/officeDocument/2006/relationships/font" Target="fonts/PTSansNarrow-bold.fntdata"/><Relationship Id="rId14" Type="http://schemas.openxmlformats.org/officeDocument/2006/relationships/slide" Target="slides/slide9.xml"/><Relationship Id="rId58" Type="http://schemas.openxmlformats.org/officeDocument/2006/relationships/font" Target="fonts/PTSansNarrow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6f75fc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6f75fc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2b655740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2b655740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2b655740a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2b655740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2b655740a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2b655740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2b655740a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2b655740a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2cc06656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2cc06656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2cc066564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2cc066564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2cc066564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2cc066564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32494311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32494311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2cc066564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2cc066564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2cc066564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2cc066564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2cc066564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2cc066564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2cc066564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2cc066564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2cc066564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2cc066564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2cc066564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2cc066564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2cc066564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2cc066564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2cc066564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2cc066564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2ff92dc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2ff92dc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32494311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32494311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2cc066564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2cc066564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2cc066564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2cc066564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2cc066564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c2cc066564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3249431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3249431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32494311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c32494311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32494311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c32494311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32494311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c32494311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32494311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32494311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32494311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c32494311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32494311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c32494311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c32494311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c32494311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32494311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c32494311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c32494311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c32494311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324943111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32494311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32494311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c32494311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32494311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c32494311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32494311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c32494311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c324943111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c324943111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c32494311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c32494311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c324943111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c32494311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c324943111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c324943111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c324943111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c32494311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c324943111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c32494311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c32494311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c32494311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324943111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c324943111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868f2e552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868f2e552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868f2e55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868f2e55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868f2e552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868f2e552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868f2e552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868f2e552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868f2e552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868f2e552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868f2e552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868f2e552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fonts.google.com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Foundations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Value boot camp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 (Cascading Style Sheets)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CSS?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1266325"/>
            <a:ext cx="8112300" cy="36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CSS is a styling language used to define document presentation in HTML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CSS = Cascading Style Sheets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Used to style and layout web pages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Controls colors, fonts, spacing, and positioning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Separates design (CSS) from content (HTML)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Works with HTML and JavaScript to build modern websites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1973" y="350638"/>
            <a:ext cx="7046999" cy="444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 Syntax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266325"/>
            <a:ext cx="4023900" cy="36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 CSS rule consists of a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selector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and a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declaration block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selector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tells us which HTML element(s) the rule applies to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declaration block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contains one or more property-value pairs that define the styling.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2775" y="1463375"/>
            <a:ext cx="3614849" cy="12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Inline Styles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266325"/>
            <a:ext cx="8276700" cy="13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Inline styles apply CSS directly to an element via 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style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attribute.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They are quick to use but not reusable.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025" y="2639128"/>
            <a:ext cx="6447075" cy="12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Embedded Style Sheet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266325"/>
            <a:ext cx="3957000" cy="34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An embedded style sheet is placed inside the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&lt;head&gt;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of an HTML document using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&lt;style&gt;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tags.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It styles the current page only.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0250" y="1412775"/>
            <a:ext cx="3811601" cy="274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External Style Sheet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266325"/>
            <a:ext cx="3988800" cy="3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External CSS is the most scalable and preferred method.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You store styles in a separate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.css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file and link it using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&lt;link&gt;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in the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&lt;head&gt;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406250"/>
            <a:ext cx="4107924" cy="21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 Selectors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 Selectors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266325"/>
            <a:ext cx="8186400" cy="21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Determine the HTML elements to target for styling.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Tag Selector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- Targets all elements of a given tag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Class Selector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- Target elements that share a class name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Id Selector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- Target a single unique element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 Selectors - Tag Selector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266325"/>
            <a:ext cx="34839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 tag selector targets all elements of a given tag, applying consistent styling across the page.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To apply styles we use the tag name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(p)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as the selector.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2150" y="1304200"/>
            <a:ext cx="3003875" cy="277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 Selectors - Class Selector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266325"/>
            <a:ext cx="34839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Class selectors target elements that share a class name, giving you more precise control.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You can assign multiple classes to a single element for flexible styling.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9625" y="1363275"/>
            <a:ext cx="4008126" cy="315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 Selectors - Id Selector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266325"/>
            <a:ext cx="34839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Id selectors target a single unique element.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Since Ids must be unique, this method is rarely used for styling.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675" y="1315450"/>
            <a:ext cx="4086750" cy="28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Action Pseudo-Classes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1266325"/>
            <a:ext cx="34839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ser action pseudo-classes allow you to style elements based on how users interact with them.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They are commonly applied to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&lt;button&gt;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and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&lt;a&gt;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elements to provide feedback during interactions.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5225" y="1368575"/>
            <a:ext cx="3935249" cy="296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Pseudo-Classes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1266325"/>
            <a:ext cx="34839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:hover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Triggers when a user points to an element with a mouse cursor.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Great for creating interactive visual feedback.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4408425" y="1239750"/>
            <a:ext cx="34839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:focus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Activates when an element receives keyboard focus.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Pseudo-Classes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311700" y="1266325"/>
            <a:ext cx="34839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: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active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Triggered while an element is being activated, commonly during a mouse click on buttons or links.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4408425" y="1239750"/>
            <a:ext cx="34839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: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visited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Applies to links after the user has already visited their destination.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Browsers typically display unvisited links in blue and visited ones in purple, unless you override these styles.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1266325"/>
            <a:ext cx="41481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CSS variables let you store reusable values, making your styles easier to update and maintain.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Declare variables in 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:root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selector and prefix them with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--</a:t>
            </a:r>
            <a:endParaRPr>
              <a:solidFill>
                <a:schemeClr val="accent5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71" name="Google Shape;17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6400" y="1294750"/>
            <a:ext cx="2926249" cy="289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Overriding Properties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0"/>
          <p:cNvSpPr txBox="1"/>
          <p:nvPr>
            <p:ph idx="1" type="body"/>
          </p:nvPr>
        </p:nvSpPr>
        <p:spPr>
          <a:xfrm>
            <a:off x="311700" y="1266325"/>
            <a:ext cx="35706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To change specific styles within a component, redefine the same property inside a more specific selector.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base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.signal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class holds shared styles, while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.stop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.slow-down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and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.proceed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override individual colors.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78" name="Google Shape;1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6200" y="1202575"/>
            <a:ext cx="3937801" cy="317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Style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Colors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2"/>
          <p:cNvSpPr txBox="1"/>
          <p:nvPr>
            <p:ph idx="1" type="body"/>
          </p:nvPr>
        </p:nvSpPr>
        <p:spPr>
          <a:xfrm>
            <a:off x="311700" y="1266325"/>
            <a:ext cx="34839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Text color can be applied to a text element using the CSS color property, which can be assigned a value in various formats.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most commonly used color values are RGB, hex, and color names.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90" name="Google Shape;19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9650" y="1363275"/>
            <a:ext cx="3370501" cy="289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Colors - Formats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3"/>
          <p:cNvSpPr txBox="1"/>
          <p:nvPr>
            <p:ph idx="1" type="body"/>
          </p:nvPr>
        </p:nvSpPr>
        <p:spPr>
          <a:xfrm>
            <a:off x="311700" y="1266325"/>
            <a:ext cx="34839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Hex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Hex represents colors as a six-digit code consisting of three pairs of two-digit values. Each pair represents the intensity of red, green, and blue (in that order)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197" name="Google Shape;19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900" y="1990275"/>
            <a:ext cx="314325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Colors - Formats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4"/>
          <p:cNvSpPr txBox="1"/>
          <p:nvPr>
            <p:ph idx="1" type="body"/>
          </p:nvPr>
        </p:nvSpPr>
        <p:spPr>
          <a:xfrm>
            <a:off x="311700" y="1266325"/>
            <a:ext cx="34839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RGB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RGB represents colors as a series of three numbers that correspond to the intensity of red, green, and blue (in that order)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04" name="Google Shape;20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347" y="2141400"/>
            <a:ext cx="4118950" cy="113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Styling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5"/>
          <p:cNvSpPr txBox="1"/>
          <p:nvPr>
            <p:ph idx="1" type="body"/>
          </p:nvPr>
        </p:nvSpPr>
        <p:spPr>
          <a:xfrm>
            <a:off x="311700" y="1266325"/>
            <a:ext cx="35706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text-decoration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text-decoration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property can be applied to any text content, including links, headings, paragraphs, and lists.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It adds line effects such as underlining.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11" name="Google Shape;2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1650" y="1266325"/>
            <a:ext cx="3036526" cy="312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Styling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6"/>
          <p:cNvSpPr txBox="1"/>
          <p:nvPr>
            <p:ph idx="1" type="body"/>
          </p:nvPr>
        </p:nvSpPr>
        <p:spPr>
          <a:xfrm>
            <a:off x="311700" y="1266325"/>
            <a:ext cx="35706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text-transform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text-transform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property allows us to change the capitalization of text content in HTML elements.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18" name="Google Shape;21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3825" y="1266325"/>
            <a:ext cx="2906576" cy="319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Styling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311700" y="1266325"/>
            <a:ext cx="35706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text-align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t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ex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t-align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property allows you to horizontally align text content.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25" name="Google Shape;22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4800" y="1152425"/>
            <a:ext cx="2323476" cy="3143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Formatting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8"/>
          <p:cNvSpPr txBox="1"/>
          <p:nvPr>
            <p:ph idx="1" type="body"/>
          </p:nvPr>
        </p:nvSpPr>
        <p:spPr>
          <a:xfrm>
            <a:off x="311700" y="1266325"/>
            <a:ext cx="83829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line-height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line-height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controls the vertical spacing between lines of text.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Browsers set a default value based on the font, but you can customize it using several formats: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multiplier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unitless multiplies the font-size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value in px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specific height, e.g., 24px;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value in em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relative value, similar to multiplier (1.4em = font-size × 1.4);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percent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works like multiplier (120% = font-size × 1.2).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Formatting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311700" y="1266325"/>
            <a:ext cx="81651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letter-spacing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letter-spacing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sets horizontal spacing between characters.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normal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: default spacing;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value in px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: fixed extra spacing;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value in em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: spacing relative to font-size.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Custom Fonts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0"/>
          <p:cNvSpPr txBox="1"/>
          <p:nvPr>
            <p:ph idx="1" type="body"/>
          </p:nvPr>
        </p:nvSpPr>
        <p:spPr>
          <a:xfrm>
            <a:off x="311700" y="1266325"/>
            <a:ext cx="32022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Fonts significantly shape the look and feel of a website.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High-quality typography improves readability and makes a design more memorable.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3951475" y="1266325"/>
            <a:ext cx="45786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Google Fonts Service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There are many exciting fonts available for free use.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Let's explore the options provided by  </a:t>
            </a:r>
            <a:r>
              <a:rPr lang="en" u="sng">
                <a:solidFill>
                  <a:schemeClr val="hlink"/>
                </a:solidFill>
                <a:latin typeface="Roboto Slab"/>
                <a:ea typeface="Roboto Slab"/>
                <a:cs typeface="Roboto Slab"/>
                <a:sym typeface="Roboto Slab"/>
                <a:hlinkClick r:id="rId3"/>
              </a:rPr>
              <a:t>https://fonts.google.com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Font Properties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1"/>
          <p:cNvSpPr txBox="1"/>
          <p:nvPr>
            <p:ph idx="1" type="body"/>
          </p:nvPr>
        </p:nvSpPr>
        <p:spPr>
          <a:xfrm>
            <a:off x="311700" y="1266325"/>
            <a:ext cx="36273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f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ont-family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Defines the typeface used to display text.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You can set one font or a list of fallback fonts separated by commas.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51" name="Google Shape;251;p41"/>
          <p:cNvSpPr txBox="1"/>
          <p:nvPr>
            <p:ph idx="1" type="body"/>
          </p:nvPr>
        </p:nvSpPr>
        <p:spPr>
          <a:xfrm>
            <a:off x="4504075" y="1266325"/>
            <a:ext cx="36273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font-size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Controls the size of text.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px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: fixed size.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em/rem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: size relative to the parent or root element.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Font Properties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2"/>
          <p:cNvSpPr txBox="1"/>
          <p:nvPr>
            <p:ph idx="1" type="body"/>
          </p:nvPr>
        </p:nvSpPr>
        <p:spPr>
          <a:xfrm>
            <a:off x="311700" y="1266325"/>
            <a:ext cx="3627300" cy="18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font-weight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Controls the thickness of text. Numeric values: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100–900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Keywords: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normal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bold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lighter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58" name="Google Shape;258;p42"/>
          <p:cNvSpPr txBox="1"/>
          <p:nvPr>
            <p:ph idx="1" type="body"/>
          </p:nvPr>
        </p:nvSpPr>
        <p:spPr>
          <a:xfrm>
            <a:off x="4504075" y="1266325"/>
            <a:ext cx="3627300" cy="15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font-style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Specifies the style of the text: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normal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italic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or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oblique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 Box Model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CSS Box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4"/>
          <p:cNvSpPr txBox="1"/>
          <p:nvPr>
            <p:ph idx="1" type="body"/>
          </p:nvPr>
        </p:nvSpPr>
        <p:spPr>
          <a:xfrm>
            <a:off x="311700" y="1266325"/>
            <a:ext cx="43818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HTML elements are rendered as rectangular boxes on a web page. Each element has its content area, padding, border, and margin.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padding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is the area between the content and the border.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border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surrounds the element. By default, the border width is 0.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margin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is the space between the border and other elements on the page.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70" name="Google Shape;27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3600" y="1266325"/>
            <a:ext cx="4340500" cy="311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width and height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5"/>
          <p:cNvSpPr txBox="1"/>
          <p:nvPr>
            <p:ph idx="1" type="body"/>
          </p:nvPr>
        </p:nvSpPr>
        <p:spPr>
          <a:xfrm>
            <a:off x="311700" y="1266325"/>
            <a:ext cx="43818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width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and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height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properties are used to define the size of an element.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Most elements, having only 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width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property is often sufficient, as 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height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will be determined automatically.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77" name="Google Shape;27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3600" y="1266325"/>
            <a:ext cx="4340500" cy="311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Box Sizing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6"/>
          <p:cNvSpPr txBox="1"/>
          <p:nvPr>
            <p:ph idx="1" type="body"/>
          </p:nvPr>
        </p:nvSpPr>
        <p:spPr>
          <a:xfrm>
            <a:off x="311700" y="1266325"/>
            <a:ext cx="5859000" cy="8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box-sizing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property is used to control how the total size of an element is calculated.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84" name="Google Shape;28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450" y="2283503"/>
            <a:ext cx="4465650" cy="17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0949" y="2331313"/>
            <a:ext cx="3731349" cy="145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and Functional Pseudo-Classes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47"/>
          <p:cNvSpPr txBox="1"/>
          <p:nvPr>
            <p:ph idx="1" type="body"/>
          </p:nvPr>
        </p:nvSpPr>
        <p:spPr>
          <a:xfrm>
            <a:off x="311700" y="1266325"/>
            <a:ext cx="47964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Pseudo-classes allow you to target elements precisely based on their order within a container.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:first-child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:first-child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pseudo-class targets an element that is the first child of its parent, regardless of its tag or class name.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92" name="Google Shape;29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0900" y="1849525"/>
            <a:ext cx="3593475" cy="10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and Functional Pseudo-Classes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8"/>
          <p:cNvSpPr txBox="1"/>
          <p:nvPr>
            <p:ph idx="1" type="body"/>
          </p:nvPr>
        </p:nvSpPr>
        <p:spPr>
          <a:xfrm>
            <a:off x="311700" y="1266325"/>
            <a:ext cx="38400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:last-child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:last-child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pseudo-class targets the last child of its parent, allowing us to modify any of its properties.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99" name="Google Shape;29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150" y="1804125"/>
            <a:ext cx="3804501" cy="9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and Functional Pseudo-Classes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9"/>
          <p:cNvSpPr txBox="1"/>
          <p:nvPr>
            <p:ph idx="1" type="body"/>
          </p:nvPr>
        </p:nvSpPr>
        <p:spPr>
          <a:xfrm>
            <a:off x="311700" y="1266325"/>
            <a:ext cx="34254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:nth-child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:nth-child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pseudo-class allows you to select elements based on their position within a list of siblings.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06" name="Google Shape;30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7594" y="1745325"/>
            <a:ext cx="3827575" cy="100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and Functional Pseudo-Classes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50"/>
          <p:cNvSpPr txBox="1"/>
          <p:nvPr>
            <p:ph idx="1" type="body"/>
          </p:nvPr>
        </p:nvSpPr>
        <p:spPr>
          <a:xfrm>
            <a:off x="311700" y="1266325"/>
            <a:ext cx="33510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:not()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:not()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pseudo-class targets elements that do not match a specified selector.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13" name="Google Shape;31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4250" y="1731674"/>
            <a:ext cx="3033350" cy="110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1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Block, Inline, and Inline-Block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Block, Inline, and Inline-Block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52"/>
          <p:cNvSpPr txBox="1"/>
          <p:nvPr>
            <p:ph idx="1" type="body"/>
          </p:nvPr>
        </p:nvSpPr>
        <p:spPr>
          <a:xfrm>
            <a:off x="311700" y="1266325"/>
            <a:ext cx="81228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HTML elements behave differently depending on whether they are block, inline, or inline-block.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Block Elements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Start on a new line;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Take up the full width of their container;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Support width, height, margin, padding, and border.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Common examples: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&lt;div&gt;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&lt;p&gt;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&lt;ul&gt;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&lt;li&gt;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&lt;h1&gt;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–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&lt;h6&gt;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Block, Inline, and Inline-Block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53"/>
          <p:cNvSpPr txBox="1"/>
          <p:nvPr>
            <p:ph idx="1" type="body"/>
          </p:nvPr>
        </p:nvSpPr>
        <p:spPr>
          <a:xfrm>
            <a:off x="311700" y="1266325"/>
            <a:ext cx="81228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Inline Elements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Stay on the same line;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Take only the space needed for their content;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Cannot have width or height applied (but border works).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Common examples: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&lt;a&gt;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&lt;span&gt;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&lt;img&gt;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&lt;input&gt;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Block, Inline, and Inline-Block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54"/>
          <p:cNvSpPr txBox="1"/>
          <p:nvPr>
            <p:ph idx="1" type="body"/>
          </p:nvPr>
        </p:nvSpPr>
        <p:spPr>
          <a:xfrm>
            <a:off x="311700" y="1266325"/>
            <a:ext cx="85206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Inline-block Elements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Stay inline, like text;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Support width, height, margin, padding, and border, like block elements.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Examples: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&lt;button&gt;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&lt;select&gt;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&lt;textarea&gt;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Block-Level Elements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55"/>
          <p:cNvSpPr txBox="1"/>
          <p:nvPr>
            <p:ph idx="1" type="body"/>
          </p:nvPr>
        </p:nvSpPr>
        <p:spPr>
          <a:xfrm>
            <a:off x="311700" y="1266325"/>
            <a:ext cx="80802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Block-level elements are rectangular and stack on top of each other, preventing other elements from sharing the same line.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This behavior is controlled by the CSS property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display: block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Key points about block-level elements: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They default to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display: block</a:t>
            </a:r>
            <a:endParaRPr>
              <a:solidFill>
                <a:schemeClr val="accent5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Their width spans the full width of the parent container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Their height is determined by the content but can be customized with CSS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They always start on a new line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Properties like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border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margin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padding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width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and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height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can be adjusted.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Inline-Level Elements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56"/>
          <p:cNvSpPr txBox="1"/>
          <p:nvPr>
            <p:ph idx="1" type="body"/>
          </p:nvPr>
        </p:nvSpPr>
        <p:spPr>
          <a:xfrm>
            <a:off x="311700" y="1266325"/>
            <a:ext cx="80802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Inline elements stay on a single line and wrap to the next line when space runs out.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This behavior is controlled by the CSS property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display: inline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Key points about inline elements: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They default to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display: inline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Their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width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and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height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are determined by their content and cannot be explicitly set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Only horizontal properties like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padding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margin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and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border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can be applied.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7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Flexbox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Flexbox?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58"/>
          <p:cNvSpPr txBox="1"/>
          <p:nvPr>
            <p:ph idx="1" type="body"/>
          </p:nvPr>
        </p:nvSpPr>
        <p:spPr>
          <a:xfrm>
            <a:off x="311700" y="1266325"/>
            <a:ext cx="43050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Designed to simplify the organization of elements within a container.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Flexbox uses a parent-child relationship.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parent is called the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flex container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, which controls the layout.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children are called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flex items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60" name="Google Shape;36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6696" y="1888163"/>
            <a:ext cx="4034400" cy="13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Flexbox in 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59"/>
          <p:cNvSpPr txBox="1"/>
          <p:nvPr>
            <p:ph idx="1" type="body"/>
          </p:nvPr>
        </p:nvSpPr>
        <p:spPr>
          <a:xfrm>
            <a:off x="311700" y="1266325"/>
            <a:ext cx="31776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To enable Flexbox, simply apply 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display: flex;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property to the parent element.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67" name="Google Shape;36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1700" y="1304825"/>
            <a:ext cx="5349902" cy="3009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Flex Direction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60"/>
          <p:cNvSpPr txBox="1"/>
          <p:nvPr>
            <p:ph idx="1" type="body"/>
          </p:nvPr>
        </p:nvSpPr>
        <p:spPr>
          <a:xfrm>
            <a:off x="311700" y="1266325"/>
            <a:ext cx="30789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flex-direction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property enables us to determine the direction in which flex items are arranged.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By default, this property is set to row.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74" name="Google Shape;37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1675" y="1724550"/>
            <a:ext cx="3959100" cy="2135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Justifying Content Horizontally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61"/>
          <p:cNvSpPr txBox="1"/>
          <p:nvPr>
            <p:ph idx="1" type="body"/>
          </p:nvPr>
        </p:nvSpPr>
        <p:spPr>
          <a:xfrm>
            <a:off x="311700" y="1266325"/>
            <a:ext cx="47907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justify-content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property is instrumental in determining the position of flex items along the main axis.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Its default value is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flex-start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81" name="Google Shape;38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5725" y="1116538"/>
            <a:ext cx="2784419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Aligning Items Vertically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62"/>
          <p:cNvSpPr txBox="1"/>
          <p:nvPr>
            <p:ph idx="1" type="body"/>
          </p:nvPr>
        </p:nvSpPr>
        <p:spPr>
          <a:xfrm>
            <a:off x="311700" y="1266325"/>
            <a:ext cx="47907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align-items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property governs the vertical arrangement of flex items. 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Its default value is </a:t>
            </a:r>
            <a:r>
              <a:rPr lang="en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rPr>
              <a:t>stretch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388" name="Google Shape;38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3400" y="1707375"/>
            <a:ext cx="3736800" cy="2945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