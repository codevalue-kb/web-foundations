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oboto Slab"/>
      <p:regular r:id="rId51"/>
      <p:bold r:id="rId52"/>
    </p:embeddedFont>
    <p:embeddedFont>
      <p:font typeface="PT Sans Narrow"/>
      <p:regular r:id="rId53"/>
      <p:bold r:id="rId54"/>
    </p:embeddedFont>
    <p:embeddedFont>
      <p:font typeface="Source Code Pro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Slab-regular.fntdata"/><Relationship Id="rId50" Type="http://schemas.openxmlformats.org/officeDocument/2006/relationships/slide" Target="slides/slide45.xml"/><Relationship Id="rId53" Type="http://schemas.openxmlformats.org/officeDocument/2006/relationships/font" Target="fonts/PTSansNarrow-regular.fntdata"/><Relationship Id="rId52" Type="http://schemas.openxmlformats.org/officeDocument/2006/relationships/font" Target="fonts/RobotoSlab-bold.fntdata"/><Relationship Id="rId11" Type="http://schemas.openxmlformats.org/officeDocument/2006/relationships/slide" Target="slides/slide6.xml"/><Relationship Id="rId55" Type="http://schemas.openxmlformats.org/officeDocument/2006/relationships/font" Target="fonts/SourceCodePro-regular.fntdata"/><Relationship Id="rId10" Type="http://schemas.openxmlformats.org/officeDocument/2006/relationships/slide" Target="slides/slide5.xml"/><Relationship Id="rId54" Type="http://schemas.openxmlformats.org/officeDocument/2006/relationships/font" Target="fonts/PTSansNarrow-bold.fntdata"/><Relationship Id="rId13" Type="http://schemas.openxmlformats.org/officeDocument/2006/relationships/slide" Target="slides/slide8.xml"/><Relationship Id="rId57" Type="http://schemas.openxmlformats.org/officeDocument/2006/relationships/font" Target="fonts/SourceCodePro-italic.fntdata"/><Relationship Id="rId12" Type="http://schemas.openxmlformats.org/officeDocument/2006/relationships/slide" Target="slides/slide7.xml"/><Relationship Id="rId56" Type="http://schemas.openxmlformats.org/officeDocument/2006/relationships/font" Target="fonts/SourceCodePro-bold.fntdata"/><Relationship Id="rId15" Type="http://schemas.openxmlformats.org/officeDocument/2006/relationships/slide" Target="slides/slide10.xml"/><Relationship Id="rId59" Type="http://schemas.openxmlformats.org/officeDocument/2006/relationships/font" Target="fonts/OpenSans-regular.fntdata"/><Relationship Id="rId14" Type="http://schemas.openxmlformats.org/officeDocument/2006/relationships/slide" Target="slides/slide9.xml"/><Relationship Id="rId58" Type="http://schemas.openxmlformats.org/officeDocument/2006/relationships/font" Target="fonts/SourceCodePr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2b65574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2b65574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2b655740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2b655740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820ee0c3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820ee0c3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820ee0c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820ee0c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820ee0c3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820ee0c3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820ee0c3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820ee0c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820ee0c3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820ee0c3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820ee0c3f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820ee0c3f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820ee0c3f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820ee0c3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820ee0c3f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820ee0c3f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820ee0c3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820ee0c3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820ee0c3f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820ee0c3f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820ee0c3f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820ee0c3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820ee0c3f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820ee0c3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820ee0c3f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820ee0c3f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20ee0c3f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820ee0c3f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820ee0c3f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820ee0c3f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820ee0c3f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820ee0c3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820ee0c3f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820ee0c3f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820ee0c3f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820ee0c3f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820ee0c3f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820ee0c3f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820ee0c3f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820ee0c3f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820ee0c3f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820ee0c3f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820ee0c3f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820ee0c3f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820ee0c3f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820ee0c3f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820ee0c3f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820ee0c3f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820ee0c3f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820ee0c3f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820ee0c3f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820ee0c3f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820ee0c3f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c820ee0c3f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820ee0c3f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820ee0c3f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820ee0c3f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c820ee0c3f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820ee0c3f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c820ee0c3f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820ee0c3f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820ee0c3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820ee0c3f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c820ee0c3f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820ee0c3f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c820ee0c3f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820ee0c3f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c820ee0c3f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66ce9ed5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c66ce9ed5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820ee0c3f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c820ee0c3f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820ee0c3f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c820ee0c3f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820ee0c3f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c820ee0c3f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820ee0c3f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c820ee0c3f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c820ee0c3f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c820ee0c3f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820ee0c3f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c820ee0c3f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820ee0c3f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c820ee0c3f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node.j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Foundations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Value boot camp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66325"/>
            <a:ext cx="3360300" cy="3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is a frontend JavaScript library.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was developed by the Facebook.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is a tool for building UI components.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975" y="1207825"/>
            <a:ext cx="3435075" cy="22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React Work?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7892100" cy="3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creates a VIRTUAL DOM in memory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Instead of manipulating the browser's DOM directly, React creates a virtual DOM in memory, where it does all the necessary manipulating, before making the changes in the browser DOM.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only changes what needs to be changed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React finds out what changes have been made, and changes only what needs to be changed.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a React Environment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439900" cy="3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Install Node.js and npm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Open VS Code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Create a new folder for your project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O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pen the terminal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Run the following command: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highlight>
                  <a:srgbClr val="F3F3F3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n</a:t>
            </a:r>
            <a:r>
              <a:rPr lang="en" sz="1600">
                <a:highlight>
                  <a:srgbClr val="F3F3F3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pm create vite@latest</a:t>
            </a:r>
            <a:endParaRPr sz="1600">
              <a:highlight>
                <a:srgbClr val="F3F3F3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Node.js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66325"/>
            <a:ext cx="8439900" cy="3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Node.js is a free, open-source, cross-platform JavaScript runtime environment that allows developers to run JavaScript code outside of a web browser.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enables server-side development and networking applications using a language previously limited to the client-side browser environment.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</a:t>
            </a:r>
            <a:r>
              <a:rPr lang="en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en"/>
              <a:t> &amp; </a:t>
            </a:r>
            <a:r>
              <a:rPr lang="en" u="sng">
                <a:solidFill>
                  <a:schemeClr val="hlink"/>
                </a:solidFill>
              </a:rPr>
              <a:t>Vite</a:t>
            </a:r>
            <a:r>
              <a:rPr lang="en"/>
              <a:t>?</a:t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311710" y="1230197"/>
            <a:ext cx="1371600" cy="329100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311710" y="1230197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⚙️  NODE.JS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4837990" y="1230197"/>
            <a:ext cx="1188600" cy="32910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4837990" y="1230197"/>
            <a:ext cx="1188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⚡  VITE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311710" y="1687397"/>
            <a:ext cx="3886200" cy="69480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1A2A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311710" y="1687397"/>
            <a:ext cx="50400" cy="694800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430582" y="1842845"/>
            <a:ext cx="384000" cy="384000"/>
          </a:xfrm>
          <a:prstGeom prst="ellipse">
            <a:avLst/>
          </a:prstGeom>
          <a:solidFill>
            <a:srgbClr val="1A2A40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430582" y="184284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933502" y="1751405"/>
            <a:ext cx="315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Package Manager (npm)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933502" y="2025725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B8C8"/>
                </a:solidFill>
                <a:latin typeface="Calibri"/>
                <a:ea typeface="Calibri"/>
                <a:cs typeface="Calibri"/>
                <a:sym typeface="Calibri"/>
              </a:rPr>
              <a:t>Installs React, libraries &amp; tools via npm. Without Node.js, there's no npm.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311710" y="2510357"/>
            <a:ext cx="3886200" cy="69480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1A2A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311710" y="2510357"/>
            <a:ext cx="50400" cy="694800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430582" y="2665805"/>
            <a:ext cx="384000" cy="384000"/>
          </a:xfrm>
          <a:prstGeom prst="ellipse">
            <a:avLst/>
          </a:prstGeom>
          <a:solidFill>
            <a:srgbClr val="1A2A40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430582" y="266580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933502" y="2574365"/>
            <a:ext cx="315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Runs Build Tooling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933502" y="2848685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B8C8"/>
                </a:solidFill>
                <a:latin typeface="Calibri"/>
                <a:ea typeface="Calibri"/>
                <a:cs typeface="Calibri"/>
                <a:sym typeface="Calibri"/>
              </a:rPr>
              <a:t>Vite, Babel &amp; Webpack all run on Node.js. It's the engine behind the scenes.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311710" y="3333317"/>
            <a:ext cx="3886200" cy="69480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1A2A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311710" y="3333317"/>
            <a:ext cx="50400" cy="694800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30582" y="3488765"/>
            <a:ext cx="384000" cy="384000"/>
          </a:xfrm>
          <a:prstGeom prst="ellipse">
            <a:avLst/>
          </a:prstGeom>
          <a:solidFill>
            <a:srgbClr val="1A2A40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430582" y="348876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933502" y="3397325"/>
            <a:ext cx="315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Transforms JSX → JS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933502" y="3671645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B8C8"/>
                </a:solidFill>
                <a:latin typeface="Calibri"/>
                <a:ea typeface="Calibri"/>
                <a:cs typeface="Calibri"/>
                <a:sym typeface="Calibri"/>
              </a:rPr>
              <a:t>Browsers can't read JSX. Node.js-powered tools compile it to plain JavaScript.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11710" y="4156277"/>
            <a:ext cx="3886200" cy="69480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1A2A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311710" y="4156277"/>
            <a:ext cx="50400" cy="694800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430582" y="4311725"/>
            <a:ext cx="384000" cy="384000"/>
          </a:xfrm>
          <a:prstGeom prst="ellipse">
            <a:avLst/>
          </a:prstGeom>
          <a:solidFill>
            <a:srgbClr val="1A2A40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430582" y="431172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933502" y="4220285"/>
            <a:ext cx="315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Dev Server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933502" y="4494605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B8C8"/>
                </a:solidFill>
                <a:latin typeface="Calibri"/>
                <a:ea typeface="Calibri"/>
                <a:cs typeface="Calibri"/>
                <a:sym typeface="Calibri"/>
              </a:rPr>
              <a:t>Serves your app at localhost so you can preview it in the browser instantly.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655110" y="1687397"/>
            <a:ext cx="4069200" cy="69480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1A2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4655110" y="1687397"/>
            <a:ext cx="50400" cy="69480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4773982" y="1842845"/>
            <a:ext cx="384000" cy="384000"/>
          </a:xfrm>
          <a:prstGeom prst="ellipse">
            <a:avLst/>
          </a:prstGeom>
          <a:solidFill>
            <a:srgbClr val="1A2A40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4773982" y="184284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276902" y="1751405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Dev Server Start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276902" y="2025725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B8C8"/>
                </a:solidFill>
                <a:latin typeface="Calibri"/>
                <a:ea typeface="Calibri"/>
                <a:cs typeface="Calibri"/>
                <a:sym typeface="Calibri"/>
              </a:rPr>
              <a:t>Uses native ES modules — server starts in milliseconds, not seconds.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655110" y="2510357"/>
            <a:ext cx="4069200" cy="69480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1A2A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4655110" y="2510357"/>
            <a:ext cx="50400" cy="694800"/>
          </a:xfrm>
          <a:prstGeom prst="rect">
            <a:avLst/>
          </a:prstGeom>
          <a:solidFill>
            <a:srgbClr val="F4845F"/>
          </a:solidFill>
          <a:ln cap="flat" cmpd="sng" w="1270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4773982" y="2665805"/>
            <a:ext cx="384000" cy="384000"/>
          </a:xfrm>
          <a:prstGeom prst="ellipse">
            <a:avLst/>
          </a:prstGeom>
          <a:solidFill>
            <a:srgbClr val="1A2A40"/>
          </a:solidFill>
          <a:ln cap="flat" cmpd="sng" w="1270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4773982" y="266580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5276902" y="2574365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 Module Replacement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5276902" y="2848685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B8C8"/>
                </a:solidFill>
                <a:latin typeface="Calibri"/>
                <a:ea typeface="Calibri"/>
                <a:cs typeface="Calibri"/>
                <a:sym typeface="Calibri"/>
              </a:rPr>
              <a:t>Changes reflect in the browser instantly without losing component state.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655110" y="3333317"/>
            <a:ext cx="4069200" cy="69480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1A2A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655110" y="3333317"/>
            <a:ext cx="50400" cy="69480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773982" y="3488765"/>
            <a:ext cx="384000" cy="384000"/>
          </a:xfrm>
          <a:prstGeom prst="ellipse">
            <a:avLst/>
          </a:prstGeom>
          <a:solidFill>
            <a:srgbClr val="1A2A40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4773982" y="348876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276902" y="3397325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Optimized Production Build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276902" y="3671645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B8C8"/>
                </a:solidFill>
                <a:latin typeface="Calibri"/>
                <a:ea typeface="Calibri"/>
                <a:cs typeface="Calibri"/>
                <a:sym typeface="Calibri"/>
              </a:rPr>
              <a:t>Bundles &amp; tree-shakes code via Rollup for the smallest possible output.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655110" y="4156277"/>
            <a:ext cx="4069200" cy="69480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1A2A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4655110" y="4156277"/>
            <a:ext cx="50400" cy="6948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4773982" y="4311725"/>
            <a:ext cx="384000" cy="384000"/>
          </a:xfrm>
          <a:prstGeom prst="ellipse">
            <a:avLst/>
          </a:prstGeom>
          <a:solidFill>
            <a:srgbClr val="1A2A40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4773982" y="431172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276902" y="4220285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Config Setup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276902" y="4494605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B8C8"/>
                </a:solidFill>
                <a:latin typeface="Calibri"/>
                <a:ea typeface="Calibri"/>
                <a:cs typeface="Calibri"/>
                <a:sym typeface="Calibri"/>
              </a:rPr>
              <a:t>Works out-of-the-box with React, TypeScript &amp; CSS modules. No boilerplate.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Project Structure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5151770" y="124417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1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📁 my-app/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5243210" y="156421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├── 📁 node_modules/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5243210" y="188425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├── 📁 public/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334650" y="220429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│    └── index.html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243210" y="252433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├── 📁 src/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334650" y="284437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│    ├── App.jsx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334650" y="316441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│    ├── App.css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334650" y="348445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│    └── main.jsx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243210" y="380449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├── .gitignore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243210" y="412453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├── package.json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243210" y="4444575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latin typeface="Consolas"/>
                <a:ea typeface="Consolas"/>
                <a:cs typeface="Consolas"/>
                <a:sym typeface="Consolas"/>
              </a:rPr>
              <a:t>└── vite.config.js</a:t>
            </a:r>
            <a:endParaRPr b="0" i="0" sz="115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98700" y="2204300"/>
            <a:ext cx="4114800" cy="2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620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690140" y="220430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latin typeface="Calibri"/>
                <a:ea typeface="Calibri"/>
                <a:cs typeface="Calibri"/>
                <a:sym typeface="Calibri"/>
              </a:rPr>
              <a:t>📄 Entry HTML file loaded by the browser</a:t>
            </a:r>
            <a:endParaRPr b="0" i="0" sz="11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98700" y="2844380"/>
            <a:ext cx="4114800" cy="2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620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690140" y="284438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latin typeface="Calibri"/>
                <a:ea typeface="Calibri"/>
                <a:cs typeface="Calibri"/>
                <a:sym typeface="Calibri"/>
              </a:rPr>
              <a:t>🧩 Root component — starts your app tree</a:t>
            </a:r>
            <a:endParaRPr b="0" i="0" sz="11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98700" y="3164420"/>
            <a:ext cx="4114800" cy="2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620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690140" y="316442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latin typeface="Calibri"/>
                <a:ea typeface="Calibri"/>
                <a:cs typeface="Calibri"/>
                <a:sym typeface="Calibri"/>
              </a:rPr>
              <a:t>🎨 Scoped styles per component</a:t>
            </a:r>
            <a:endParaRPr b="0" i="0" sz="11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98700" y="3484460"/>
            <a:ext cx="4114800" cy="2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620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690140" y="348446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latin typeface="Calibri"/>
                <a:ea typeface="Calibri"/>
                <a:cs typeface="Calibri"/>
                <a:sym typeface="Calibri"/>
              </a:rPr>
              <a:t>🚀 Mounts React app into the DOM</a:t>
            </a:r>
            <a:endParaRPr b="0" i="0" sz="11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98700" y="4124540"/>
            <a:ext cx="4114800" cy="2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620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690140" y="412454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latin typeface="Calibri"/>
                <a:ea typeface="Calibri"/>
                <a:cs typeface="Calibri"/>
                <a:sym typeface="Calibri"/>
              </a:rPr>
              <a:t>📋 Dependencies &amp; scripts config</a:t>
            </a:r>
            <a:endParaRPr b="0" i="0" sz="11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98700" y="4444580"/>
            <a:ext cx="4114800" cy="2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620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690140" y="444458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latin typeface="Calibri"/>
                <a:ea typeface="Calibri"/>
                <a:cs typeface="Calibri"/>
                <a:sym typeface="Calibri"/>
              </a:rPr>
              <a:t>⚙️ Vite build &amp; dev server config</a:t>
            </a:r>
            <a:endParaRPr b="0" i="0" sz="11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Render HTML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311700" y="1266325"/>
            <a:ext cx="7982400" cy="13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React's goal is in many ways to render HTML in a web page.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renders HTML to the web page via a container, and a function called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createRoot()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625" y="3021176"/>
            <a:ext cx="5118676" cy="13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render Method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311700" y="1266325"/>
            <a:ext cx="81207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render method defines what to render in the HTML container.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result is displayed in the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&lt;div id="root"&gt;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element.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850" y="2537625"/>
            <a:ext cx="5168399" cy="17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React JSX</a:t>
            </a:r>
            <a:endParaRPr sz="4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JSX?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311700" y="1266325"/>
            <a:ext cx="3243300" cy="25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JSX stands for JavaScript XML.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JSX allows us to write HTML in React.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JSX makes it easier to write and add HTML in React.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2025" y="1324037"/>
            <a:ext cx="5177200" cy="2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338300" y="3991075"/>
            <a:ext cx="8344200" cy="9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JSX is an extension of the JavaScript language and is translated into regular JavaScript at runtime.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Expressions in JSX</a:t>
            </a:r>
            <a:endParaRPr/>
          </a:p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311700" y="1266325"/>
            <a:ext cx="8439900" cy="14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With JSX you can write expressions inside curly braces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{ }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expression can be a React variable, or property, or any other valid JavaScript expression.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25" y="2766576"/>
            <a:ext cx="6636451" cy="5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Top Level Element</a:t>
            </a:r>
            <a:endParaRPr/>
          </a:p>
        </p:txBody>
      </p:sp>
      <p:sp>
        <p:nvSpPr>
          <p:cNvPr id="222" name="Google Shape;222;p26"/>
          <p:cNvSpPr txBox="1"/>
          <p:nvPr>
            <p:ph idx="1" type="body"/>
          </p:nvPr>
        </p:nvSpPr>
        <p:spPr>
          <a:xfrm>
            <a:off x="311700" y="1266325"/>
            <a:ext cx="84399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HTML code must be wrapped in ONE top level element.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Alternatively, you can use a "fragment" to wrap multiple lines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&lt;&gt;&lt;/&gt;</a:t>
            </a:r>
            <a:endParaRPr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23" name="Google Shape;2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25" y="2532625"/>
            <a:ext cx="3796101" cy="16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525" y="2532625"/>
            <a:ext cx="4067498" cy="1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 class = className</a:t>
            </a:r>
            <a:endParaRPr/>
          </a:p>
        </p:txBody>
      </p:sp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311700" y="1266325"/>
            <a:ext cx="8439900" cy="19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class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attribute is a much used attribute in HTML.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Since JSX is rendered as JavaScript, and 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class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keyword is a reserved in JavaScript, you are not allowed to use it in JSX.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JSX solved this by using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className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instead.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5" y="3259348"/>
            <a:ext cx="6327950" cy="7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JSX in React Components</a:t>
            </a:r>
            <a:endParaRPr/>
          </a:p>
        </p:txBody>
      </p:sp>
      <p:sp>
        <p:nvSpPr>
          <p:cNvPr id="237" name="Google Shape;237;p28"/>
          <p:cNvSpPr txBox="1"/>
          <p:nvPr>
            <p:ph idx="1" type="body"/>
          </p:nvPr>
        </p:nvSpPr>
        <p:spPr>
          <a:xfrm>
            <a:off x="311700" y="1266325"/>
            <a:ext cx="4301700" cy="3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uses components to build UIs.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Components are independent and reusable bits of code.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components are like JavaScript functions, and return HTML.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38" name="Google Shape;23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950" y="1330949"/>
            <a:ext cx="3443225" cy="28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style Attribute</a:t>
            </a:r>
            <a:endParaRPr/>
          </a:p>
        </p:txBody>
      </p:sp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311700" y="1266325"/>
            <a:ext cx="3418800" cy="3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style attribute in JSX only accepts a JavaScript object with camelCased CSS property names, rather than a CSS string (as in HTML).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375" y="1325200"/>
            <a:ext cx="3597425" cy="282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React Components</a:t>
            </a:r>
            <a:endParaRPr sz="4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Components</a:t>
            </a:r>
            <a:endParaRPr/>
          </a:p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311700" y="1266325"/>
            <a:ext cx="8307000" cy="3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components are: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Reusable, independent pieces of UI code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Similar to JavaScript functions that return HTML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Two types: Class and Function components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We will focus on Function components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Your First Component</a:t>
            </a:r>
            <a:endParaRPr/>
          </a:p>
        </p:txBody>
      </p:sp>
      <p:sp>
        <p:nvSpPr>
          <p:cNvPr id="262" name="Google Shape;262;p32"/>
          <p:cNvSpPr txBox="1"/>
          <p:nvPr>
            <p:ph idx="1" type="body"/>
          </p:nvPr>
        </p:nvSpPr>
        <p:spPr>
          <a:xfrm>
            <a:off x="311700" y="1266325"/>
            <a:ext cx="3514500" cy="3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When creating a React component, the component's name MUST start with an uppercase letter.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components returns HTML code.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63" name="Google Shape;2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950" y="1330949"/>
            <a:ext cx="3443225" cy="28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and Exporting Components</a:t>
            </a:r>
            <a:endParaRPr/>
          </a:p>
        </p:txBody>
      </p:sp>
      <p:sp>
        <p:nvSpPr>
          <p:cNvPr id="269" name="Google Shape;269;p33"/>
          <p:cNvSpPr txBox="1"/>
          <p:nvPr>
            <p:ph idx="1" type="body"/>
          </p:nvPr>
        </p:nvSpPr>
        <p:spPr>
          <a:xfrm>
            <a:off x="311700" y="1266325"/>
            <a:ext cx="4796400" cy="3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often makes sense to split components into different files.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Make a new JS file to put the components in.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Export your function component from that file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Import it in the file where you’ll use the component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A file can have only one default export.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A file can have many named exports.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70" name="Google Shape;2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9075" y="1346899"/>
            <a:ext cx="3443225" cy="28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Rendering a Component</a:t>
            </a:r>
            <a:endParaRPr/>
          </a:p>
        </p:txBody>
      </p:sp>
      <p:sp>
        <p:nvSpPr>
          <p:cNvPr id="276" name="Google Shape;276;p34"/>
          <p:cNvSpPr txBox="1"/>
          <p:nvPr>
            <p:ph idx="1" type="body"/>
          </p:nvPr>
        </p:nvSpPr>
        <p:spPr>
          <a:xfrm>
            <a:off x="311700" y="1266325"/>
            <a:ext cx="7881300" cy="1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To use this component in your application, refer to it like this: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&lt;Car /&gt;</a:t>
            </a:r>
            <a:endParaRPr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Display the Car component in the "root" element: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77" name="Google Shape;2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25" y="2527125"/>
            <a:ext cx="5886476" cy="5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Props</a:t>
            </a:r>
            <a:endParaRPr/>
          </a:p>
        </p:txBody>
      </p:sp>
      <p:sp>
        <p:nvSpPr>
          <p:cNvPr id="283" name="Google Shape;283;p35"/>
          <p:cNvSpPr txBox="1"/>
          <p:nvPr>
            <p:ph idx="1" type="body"/>
          </p:nvPr>
        </p:nvSpPr>
        <p:spPr>
          <a:xfrm>
            <a:off x="311700" y="1266325"/>
            <a:ext cx="7248300" cy="14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Arguments can be passed into a component as props, which stands for properties.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send the arguments into the component as HTML attributes.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84" name="Google Shape;2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75" y="2693275"/>
            <a:ext cx="4528986" cy="211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 Multiple Properties</a:t>
            </a:r>
            <a:endParaRPr/>
          </a:p>
        </p:txBody>
      </p:sp>
      <p:sp>
        <p:nvSpPr>
          <p:cNvPr id="290" name="Google Shape;290;p36"/>
          <p:cNvSpPr txBox="1"/>
          <p:nvPr>
            <p:ph idx="1" type="body"/>
          </p:nvPr>
        </p:nvSpPr>
        <p:spPr>
          <a:xfrm>
            <a:off x="311700" y="1266325"/>
            <a:ext cx="72483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can send as many properties as you want.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Every attribute is sent to the Car component as object properties.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91" name="Google Shape;2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25" y="2489625"/>
            <a:ext cx="5689675" cy="10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Data Types</a:t>
            </a:r>
            <a:endParaRPr/>
          </a:p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311700" y="1266325"/>
            <a:ext cx="39825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Props in React can hold any data type: strings, numbers, variables, objects, arrays, etc.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Strings are passed in quotes: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"text"</a:t>
            </a:r>
            <a:endParaRPr>
              <a:solidFill>
                <a:schemeClr val="accent5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Numbers, variables, and objects are passed in curly braces: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{value}</a:t>
            </a:r>
            <a:endParaRPr>
              <a:solidFill>
                <a:schemeClr val="accent5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500" y="1386525"/>
            <a:ext cx="4353801" cy="2638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Props Children</a:t>
            </a:r>
            <a:endParaRPr/>
          </a:p>
        </p:txBody>
      </p:sp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11700" y="1266325"/>
            <a:ext cx="39825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can pass content placed between a component’s opening and closing tags to another component.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This inner content is available in the receiving component via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props.children.</a:t>
            </a:r>
            <a:endParaRPr>
              <a:solidFill>
                <a:schemeClr val="accent5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05" name="Google Shape;30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275" y="964400"/>
            <a:ext cx="2663684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Props are Read-Only</a:t>
            </a:r>
            <a:endParaRPr/>
          </a:p>
        </p:txBody>
      </p:sp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311700" y="1266325"/>
            <a:ext cx="39825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Whether you declare a component as a function or a class, it must never modify its own props.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All React components must act like pure functions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“pure” functions do not attempt to change their inputs, and always return the same result for the same inputs.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12" name="Google Shape;3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600" y="1304825"/>
            <a:ext cx="4065624" cy="23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in Components</a:t>
            </a:r>
            <a:endParaRPr/>
          </a:p>
        </p:txBody>
      </p:sp>
      <p:sp>
        <p:nvSpPr>
          <p:cNvPr id="318" name="Google Shape;318;p40"/>
          <p:cNvSpPr txBox="1"/>
          <p:nvPr>
            <p:ph idx="1" type="body"/>
          </p:nvPr>
        </p:nvSpPr>
        <p:spPr>
          <a:xfrm>
            <a:off x="311700" y="1266325"/>
            <a:ext cx="2924100" cy="3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We can refer to components inside other components.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 good practice in React is to place each component in its own file.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19" name="Google Shape;3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875" y="1193325"/>
            <a:ext cx="4192753" cy="368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Render Tree </a:t>
            </a:r>
            <a:endParaRPr/>
          </a:p>
        </p:txBody>
      </p:sp>
      <p:pic>
        <p:nvPicPr>
          <p:cNvPr id="325" name="Google Shape;32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75" y="1312022"/>
            <a:ext cx="4034100" cy="23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120" y="1295625"/>
            <a:ext cx="3937056" cy="24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311700" y="3939625"/>
            <a:ext cx="8482500" cy="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creates a render tree, a UI tree, composed of the rendered components.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React Events</a:t>
            </a:r>
            <a:endParaRPr sz="4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Events</a:t>
            </a:r>
            <a:endParaRPr/>
          </a:p>
        </p:txBody>
      </p:sp>
      <p:sp>
        <p:nvSpPr>
          <p:cNvPr id="338" name="Google Shape;338;p43"/>
          <p:cNvSpPr txBox="1"/>
          <p:nvPr>
            <p:ph idx="1" type="body"/>
          </p:nvPr>
        </p:nvSpPr>
        <p:spPr>
          <a:xfrm>
            <a:off x="311700" y="1266325"/>
            <a:ext cx="37431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Just like HTML DOM events, React can perform actions based on user events.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has the same events as HTML: click, change, mouseover etc.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React events are written in camelCase syntax: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onClick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instead of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onclick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39" name="Google Shape;3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300" y="1435725"/>
            <a:ext cx="4419075" cy="27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Arguments</a:t>
            </a:r>
            <a:endParaRPr/>
          </a:p>
        </p:txBody>
      </p:sp>
      <p:sp>
        <p:nvSpPr>
          <p:cNvPr id="345" name="Google Shape;345;p44"/>
          <p:cNvSpPr txBox="1"/>
          <p:nvPr>
            <p:ph idx="1" type="body"/>
          </p:nvPr>
        </p:nvSpPr>
        <p:spPr>
          <a:xfrm>
            <a:off x="311700" y="1266325"/>
            <a:ext cx="37431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To pass an argument to an event handler, use an arrow function.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46" name="Google Shape;3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200" y="1304825"/>
            <a:ext cx="4241200" cy="199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Event Object</a:t>
            </a:r>
            <a:endParaRPr/>
          </a:p>
        </p:txBody>
      </p:sp>
      <p:sp>
        <p:nvSpPr>
          <p:cNvPr id="352" name="Google Shape;352;p45"/>
          <p:cNvSpPr txBox="1"/>
          <p:nvPr>
            <p:ph idx="1" type="body"/>
          </p:nvPr>
        </p:nvSpPr>
        <p:spPr>
          <a:xfrm>
            <a:off x="311700" y="1266325"/>
            <a:ext cx="37431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Event handlers have access to the React event that triggered the function.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 our example the event is the "click" event.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53" name="Google Shape;35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350" y="1333450"/>
            <a:ext cx="4755701" cy="24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React Conditional Rendering</a:t>
            </a:r>
            <a:endParaRPr sz="4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Statement</a:t>
            </a:r>
            <a:endParaRPr/>
          </a:p>
        </p:txBody>
      </p:sp>
      <p:sp>
        <p:nvSpPr>
          <p:cNvPr id="364" name="Google Shape;364;p47"/>
          <p:cNvSpPr txBox="1"/>
          <p:nvPr>
            <p:ph idx="1" type="body"/>
          </p:nvPr>
        </p:nvSpPr>
        <p:spPr>
          <a:xfrm>
            <a:off x="311700" y="1266325"/>
            <a:ext cx="31527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We can use 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if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JavaScript operator to decide which component to render.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65" name="Google Shape;36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200" y="1304825"/>
            <a:ext cx="3555026" cy="31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&amp;&amp; Operator</a:t>
            </a:r>
            <a:endParaRPr/>
          </a:p>
        </p:txBody>
      </p:sp>
      <p:sp>
        <p:nvSpPr>
          <p:cNvPr id="371" name="Google Shape;371;p48"/>
          <p:cNvSpPr txBox="1"/>
          <p:nvPr>
            <p:ph idx="1" type="body"/>
          </p:nvPr>
        </p:nvSpPr>
        <p:spPr>
          <a:xfrm>
            <a:off x="311700" y="1266325"/>
            <a:ext cx="31527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right side of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&amp;&amp;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will only be rendered if the left side is true.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72" name="Google Shape;3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800" y="1304825"/>
            <a:ext cx="5017975" cy="23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Lists</a:t>
            </a:r>
            <a:endParaRPr/>
          </a:p>
        </p:txBody>
      </p:sp>
      <p:sp>
        <p:nvSpPr>
          <p:cNvPr id="378" name="Google Shape;378;p49"/>
          <p:cNvSpPr txBox="1"/>
          <p:nvPr>
            <p:ph idx="1" type="body"/>
          </p:nvPr>
        </p:nvSpPr>
        <p:spPr>
          <a:xfrm>
            <a:off x="311700" y="1266325"/>
            <a:ext cx="31527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 React, you will render lists with some type of loop.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JavaScript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map()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array method is generally the preferred method.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79" name="Google Shape;37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925" y="1241000"/>
            <a:ext cx="4511876" cy="31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0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React State</a:t>
            </a:r>
            <a:endParaRPr sz="4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component’s memory</a:t>
            </a:r>
            <a:endParaRPr/>
          </a:p>
        </p:txBody>
      </p:sp>
      <p:sp>
        <p:nvSpPr>
          <p:cNvPr id="390" name="Google Shape;390;p51"/>
          <p:cNvSpPr txBox="1"/>
          <p:nvPr>
            <p:ph idx="1" type="body"/>
          </p:nvPr>
        </p:nvSpPr>
        <p:spPr>
          <a:xfrm>
            <a:off x="311700" y="1266325"/>
            <a:ext cx="83175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Components often need to update UI after interactions (events).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They must “remember” data like: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Input values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Current image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Shopping cart items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This component-specific memory is called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useState </a:t>
            </a:r>
            <a:r>
              <a:rPr lang="en"/>
              <a:t>Hook</a:t>
            </a:r>
            <a:endParaRPr/>
          </a:p>
        </p:txBody>
      </p:sp>
      <p:sp>
        <p:nvSpPr>
          <p:cNvPr id="396" name="Google Shape;396;p52"/>
          <p:cNvSpPr txBox="1"/>
          <p:nvPr>
            <p:ph idx="1" type="body"/>
          </p:nvPr>
        </p:nvSpPr>
        <p:spPr>
          <a:xfrm>
            <a:off x="311700" y="1266325"/>
            <a:ext cx="8317500" cy="28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State is added using the useState Hook.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Hooks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are special functions that enable React features in components.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useState(initialValue)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returns: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Current state value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Setter function to update it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Updating state → React re-renders the component with new UI.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useState </a:t>
            </a:r>
            <a:r>
              <a:rPr lang="en"/>
              <a:t>Hook</a:t>
            </a:r>
            <a:endParaRPr/>
          </a:p>
        </p:txBody>
      </p:sp>
      <p:sp>
        <p:nvSpPr>
          <p:cNvPr id="402" name="Google Shape;402;p53"/>
          <p:cNvSpPr txBox="1"/>
          <p:nvPr>
            <p:ph idx="1" type="body"/>
          </p:nvPr>
        </p:nvSpPr>
        <p:spPr>
          <a:xfrm>
            <a:off x="311700" y="2553527"/>
            <a:ext cx="83175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index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is a state variable and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setIndex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is the setter function.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[ and ]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syntax here is called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array destructuring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and it lets you read values from an array.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array returned by useState always has exactly two items.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403" name="Google Shape;40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75" y="1304825"/>
            <a:ext cx="7035375" cy="9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React Hooks</a:t>
            </a:r>
            <a:endParaRPr/>
          </a:p>
        </p:txBody>
      </p:sp>
      <p:sp>
        <p:nvSpPr>
          <p:cNvPr id="409" name="Google Shape;409;p54"/>
          <p:cNvSpPr txBox="1"/>
          <p:nvPr>
            <p:ph idx="1" type="body"/>
          </p:nvPr>
        </p:nvSpPr>
        <p:spPr>
          <a:xfrm>
            <a:off x="311700" y="1266325"/>
            <a:ext cx="83175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Hooks are special functions that let you use React features.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Allow logic reuse via custom Hooks.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Call Hooks only at the top level (not inside loops/conditions/functions).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Call Hooks only in React components or other Hooks.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Hook names always start with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use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React Hooks</a:t>
            </a:r>
            <a:endParaRPr/>
          </a:p>
        </p:txBody>
      </p:sp>
      <p:sp>
        <p:nvSpPr>
          <p:cNvPr id="415" name="Google Shape;415;p55"/>
          <p:cNvSpPr txBox="1"/>
          <p:nvPr>
            <p:ph idx="1" type="body"/>
          </p:nvPr>
        </p:nvSpPr>
        <p:spPr>
          <a:xfrm>
            <a:off x="311700" y="1266325"/>
            <a:ext cx="83175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Hooks are special functions that let you use React features.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Allow logic reuse via custom Hooks.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Call Hooks only at the top level (not inside loops/conditions/functions).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Call Hooks only in React components or other Hooks.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Hook names always start with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use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Updating objects in state </a:t>
            </a:r>
            <a:endParaRPr/>
          </a:p>
        </p:txBody>
      </p:sp>
      <p:sp>
        <p:nvSpPr>
          <p:cNvPr id="421" name="Google Shape;421;p56"/>
          <p:cNvSpPr txBox="1"/>
          <p:nvPr>
            <p:ph idx="1" type="body"/>
          </p:nvPr>
        </p:nvSpPr>
        <p:spPr>
          <a:xfrm>
            <a:off x="311700" y="1266325"/>
            <a:ext cx="46686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State is Immutable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State can hold any JavaScript value, including objects and arrays.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Do not modify objects or arrays in state directly.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To update, create a new copy (or copy and modify).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Use the spread syntax (...) to copy objects or arrays before updating.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422" name="Google Shape;42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8900" y="512588"/>
            <a:ext cx="3310350" cy="411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Updating arrays in state </a:t>
            </a:r>
            <a:endParaRPr/>
          </a:p>
        </p:txBody>
      </p:sp>
      <p:sp>
        <p:nvSpPr>
          <p:cNvPr id="428" name="Google Shape;428;p57"/>
          <p:cNvSpPr txBox="1"/>
          <p:nvPr>
            <p:ph idx="1" type="body"/>
          </p:nvPr>
        </p:nvSpPr>
        <p:spPr>
          <a:xfrm>
            <a:off x="311700" y="1266325"/>
            <a:ext cx="46686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Arrays are mutable, but treat them as read-only in state.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To update an array in state: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Create a new array or copy the existing one.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Set state to the new array.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This preserves immutability and ensures proper re-rendering.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429" name="Google Shape;42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2700" y="1304825"/>
            <a:ext cx="3545869" cy="32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